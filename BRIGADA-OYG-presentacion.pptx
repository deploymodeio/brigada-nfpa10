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508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EEE8D5"/>
                </a:solidFill>
                <a:latin typeface="Barlow"/>
              </a:rPr>
              <a:t>BRIGADA O&amp;G</a:t>
            </a:r>
          </a:p>
          <a:p>
            <a:r>
              <a:rPr sz="2000">
                <a:solidFill>
                  <a:srgbClr val="2AA198"/>
                </a:solidFill>
                <a:latin typeface="IBM Plex Sans"/>
              </a:rPr>
              <a:t>Inspección de Equipos de Protección Contra Incendios · NFPA 10 / API RP 14G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3A1A1"/>
                </a:solidFill>
                <a:latin typeface="IBM Plex Sans"/>
              </a:rPr>
              <a:t>DeployModeIO · Transformación V2.1 · 2026</a:t>
            </a:r>
          </a:p>
          <a:p>
            <a:r>
              <a:rPr sz="1500">
                <a:solidFill>
                  <a:srgbClr val="93A1A1"/>
                </a:solidFill>
                <a:latin typeface="IBM Plex Sans"/>
              </a:rPr>
              <a:t>Plataforma full-stack de cumplimiento para instalaciones de hidrocarburos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El reto en Oil &amp;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Por qué una brigada tradicional no alcanza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66160" cy="635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Cumplimiento exigido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NFPA 10: inspección mensual, mantenimiento anual,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hidrostática 5/12 años.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API RP 14G: Clase B junto a motores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y turbinas en áreas encerradas.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635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36192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Entornos hostiles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Zonas ATEX 0/1/2, módulos offshore,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plantas compresoras, muelles de carguío.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Papel y planillas: se pierden, llegan tarde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y no escalan.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356616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2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Lo que exige la industria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Trazabilidad total por TAG, evidencia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fotográfica, GPS, actas auditables,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datos en tiempo real para el supervisor.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1155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11155680" cy="635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0792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228"/>
                </a:solidFill>
                <a:latin typeface="Barlow"/>
              </a:rPr>
              <a:t>Consecuencia sin sistema</a:t>
            </a:r>
          </a:p>
          <a:p>
            <a:r>
              <a:rPr sz="1400">
                <a:solidFill>
                  <a:srgbClr val="46555E"/>
                </a:solidFill>
                <a:latin typeface="IBM Plex Sans"/>
              </a:rPr>
              <a:t>Extintores vencidos detectados tarde · inspectores sin habilitación vigente firmando · datos atrapados en planillas dispares · cero visibilidad para el supervisor HSE hasta la auditoría 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La solución: BRIGADA O&amp;G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PWA full-stack de inspección y cumplimiento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Escaneo QR en campo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el brigadista escanea la etiqueta del equipo y abre su ficha completa al instante.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Checklists NFPA 10 guiados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§7.2 mensual y §7.3 anual con puntos críticos que bloquean (precinto, manómetro, manguera).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GPS con verificación anti-fraude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compara la posición capturada con la ubicación registrada del equipo (±100 m).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Evidencia fotográfica comprimida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foto obligatoria en no conformidades, optimizada para redes de campo.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Modo offline real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IndexedDB + cola de sincronización: sin señal, la inspección no se detiene.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Tiempo real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el tablero del supervisor se actualiza solo vía SSE cuando el campo registra.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5F8F"/>
                </a:solidFill>
                <a:latin typeface="IBM Plex Sans"/>
              </a:rPr>
              <a:t>▪ Excel auditable</a:t>
            </a:r>
            <a:r>
              <a:rPr sz="1600">
                <a:solidFill>
                  <a:srgbClr val="1A2228"/>
                </a:solidFill>
                <a:latin typeface="IBM Plex Sans"/>
              </a:rPr>
              <a:t>  — exportación XLSX versionada con firma de auditoría y protección anti-fórmulas.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Diseño guiado por estándares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No decoración: normativa aplicada a la interfaz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HMI de Alto Desempeño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Fondos neutros grises (Rockwell PROCES-WP023):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el color SOLO comunica estado o alarma.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Cero elementos decorativos que distraigan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al brigadista bajo presión.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ANSI Z535 / ISO 7010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Verde = condición segura · Ámbar = advertencia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Rojo = peligro · Azul = información obligatoria.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Insignias y semáforo alineados a la norma.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11880"/>
            <a:ext cx="5486400" cy="63500"/>
          </a:xfrm>
          <a:prstGeom prst="rect">
            <a:avLst/>
          </a:prstGeom>
          <a:solidFill>
            <a:srgbClr val="B58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Solarized Dark oficial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Tema opcional con la paleta exacta de base03/base02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y acentos ajustados para WCAG AA ≥ 4.5.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Verificado por tests automáticos de contraste.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611880"/>
            <a:ext cx="5486400" cy="635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76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Responsivo 3 dispositivos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PC: rail lateral · Tablet: rail compacto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Celular: navegación inferior + botones ≥56 px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para operar con guantes.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Arquitectura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Full-stack probado, sin dependencias propietarias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Cliente · React + Vite (PWA)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Instalable en celulares/tablets · Service Worker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colchón offline (IndexedDB + cola) · Escáner QR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con cámara · Compresión de fotos · Export XLSX/PDF.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Servidor · Node/Express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Multi-BD: SQLite · PostgreSQL · MySQL · SQLServer · Oracle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Motor NFPA 10 + API RP 14G como reglas en BD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Webhooks de salida · Modo espejo a BD del cliente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(escritura con cola y retry exponencial).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86200"/>
            <a:ext cx="11155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11155680" cy="635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2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228"/>
                </a:solidFill>
                <a:latin typeface="Barlow"/>
              </a:rPr>
              <a:t>Infraestructura local (Podman rootful)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Qdrant (memoria semántica RAG) · n8n (automatización) · Arize Phoenix (telemetría) · SearXNG (búsqueda privada).  Razonamiento IA vía LiteLLM Proxy con failover triple (Qwen 3.8 Flash → DeepSeek → GLM 4.7).  Cero dependencia de Docker Desktop.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Flujo del brigadista en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De la cámara del celular a la base de datos en 4 pasos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69748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228"/>
                </a:solidFill>
                <a:latin typeface="Barlow"/>
              </a:rPr>
              <a:t>1 · ESCANEA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El QR de la etiqueta abre la ficha del equipo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(TAG, área, zona ATEX, vencimientos).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5544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554480"/>
            <a:ext cx="2697480" cy="635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719072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228"/>
                </a:solidFill>
                <a:latin typeface="Barlow"/>
              </a:rPr>
              <a:t>2 · INSPECCIONA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Checklist NFPA 10 Pasa/Falla con puntos críticos.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Foto de evidencia comprimida automática.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5544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554480"/>
            <a:ext cx="2697480" cy="635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719072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228"/>
                </a:solidFill>
                <a:latin typeface="Barlow"/>
              </a:rPr>
              <a:t>3 · VERIFICA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GPS + verificación anti-fraude: ±100 m de la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ubicación registrada, o queda marcado para revisión.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4" y="15544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61704" y="1554480"/>
            <a:ext cx="2697480" cy="635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719072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228"/>
                </a:solidFill>
                <a:latin typeface="Barlow"/>
              </a:rPr>
              <a:t>4 · SINCRONIZA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Online: guardado inmediato + broadcast en vivo.</a:t>
            </a:r>
          </a:p>
          <a:p>
            <a:r>
              <a:rPr sz="1200">
                <a:solidFill>
                  <a:srgbClr val="46555E"/>
                </a:solidFill>
                <a:latin typeface="IBM Plex Sans"/>
              </a:rPr>
              <a:t>Offline: cola IndexedDB, drena al reconectar.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7680"/>
            <a:ext cx="11155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97680"/>
            <a:ext cx="1115568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62272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228"/>
                </a:solidFill>
                <a:latin typeface="Barlow"/>
              </a:rPr>
              <a:t>Resultado</a:t>
            </a:r>
          </a:p>
          <a:p>
            <a:r>
              <a:rPr sz="1400">
                <a:solidFill>
                  <a:srgbClr val="46555E"/>
                </a:solidFill>
                <a:latin typeface="IBM Plex Sans"/>
              </a:rPr>
              <a:t>El supervisor ve la inspección en su tablero en menos de 1 segundo (SSE), con foto, coordenadas verificadas y clasificación automática de no conformidades. Si hay puntos críticos fallidos, se dispara webhook de alerta.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Roles, seguridad y auditoría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Seguridad por diseño, no por parche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Admin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crea/nombra equipos y empresa, configura listas, marca, usuarios e integraciones. Control total.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Supervisor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visibilidad completa, actas, alertas; sin alta de equipos.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Inspector / Brigadista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solo inspeccionar, con habilitación vigente obligatoria (403 si vencida).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Tokens JWT con revocación efectiva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cada request verifica el estado del usuario en BD: bajar a alguien los tira del sistema al instante.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Gate de contraseña provisional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usuario nuevo DEBE cambiar clave antes de operar (403 password_change_required).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5F8F"/>
                </a:solidFill>
                <a:latin typeface="IBM Plex Sans"/>
              </a:rPr>
              <a:t>▪ Excel con firma de versión</a:t>
            </a:r>
            <a:r>
              <a:rPr sz="1500">
                <a:solidFill>
                  <a:srgbClr val="1A2228"/>
                </a:solidFill>
                <a:latin typeface="IBM Plex Sans"/>
              </a:rPr>
              <a:t>  — hoja protegida contra inyección de fórmulas; el auditor ata el archivo a su definición exacta.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228"/>
                </a:solidFill>
                <a:latin typeface="Barlow"/>
              </a:rPr>
              <a:t>Calidad verificada, no prometida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6555E"/>
                </a:solidFill>
                <a:latin typeface="IBM Plex Sans"/>
              </a:rPr>
              <a:t>Suite de tests que vigila el diseño mismo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66160" cy="635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228"/>
                </a:solidFill>
                <a:latin typeface="Barlow"/>
              </a:rPr>
              <a:t>78 tests PASS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Servidor 46/46 (NFPA, seeds O&amp;G,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webhooks, seguridad, SSE)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Cliente 32/32 + geo 5/5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36192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228"/>
                </a:solidFill>
                <a:latin typeface="Barlow"/>
              </a:rPr>
              <a:t>WCAG AA verificado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Contraste ≥ 4.5 de TODOS los tokens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de color sobre sus fondos en cada tema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— test automático que falla si alguien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introduce un color ilegible.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3566160" cy="635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2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228"/>
                </a:solidFill>
                <a:latin typeface="Barlow"/>
              </a:rPr>
              <a:t>Integración end-to-end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18/18 pruebas de ecosistema: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puertos, cerebro IA, memoria vectorial,</a:t>
            </a:r>
          </a:p>
          <a:p>
            <a:r>
              <a:rPr sz="1300">
                <a:solidFill>
                  <a:srgbClr val="46555E"/>
                </a:solidFill>
                <a:latin typeface="IBM Plex Sans"/>
              </a:rPr>
              <a:t>búsqueda privada, contenedores.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1155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11155680" cy="635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59352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228"/>
                </a:solidFill>
                <a:latin typeface="Barlow"/>
              </a:rPr>
              <a:t>Filosofía</a:t>
            </a:r>
          </a:p>
          <a:p>
            <a:r>
              <a:rPr sz="1500">
                <a:solidFill>
                  <a:srgbClr val="46555E"/>
                </a:solidFill>
                <a:latin typeface="IBM Plex Sans"/>
              </a:rPr>
              <a:t>Los tests son el contrato del diseño: la paleta, el ciclo de temas y la accesibilidad están FIJADOS en pruebas automáticas. Cualquier cambio de diseño debe actualizar el contrato — es imposible degradar la app "por accidente".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E8D5"/>
                </a:solidFill>
                <a:latin typeface="Barlow"/>
              </a:rPr>
              <a:t>Hoja de ruta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2011680" cy="50292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B36"/>
                </a:solidFill>
                <a:latin typeface="Barlow"/>
              </a:rPr>
              <a:t>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709928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3A1A1"/>
                </a:solidFill>
                <a:latin typeface="IBM Plex Sans"/>
              </a:rPr>
              <a:t>App completa operativa: QR, GPS, offline, tiempo real, Excel auditable, roles.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2011680" cy="50292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B36"/>
                </a:solidFill>
                <a:latin typeface="Barlow"/>
              </a:rPr>
              <a:t>CORTO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70048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3A1A1"/>
                </a:solidFill>
                <a:latin typeface="IBM Plex Sans"/>
              </a:rPr>
              <a:t>Alertas automáticas vía n8n (Telegram/correo al supervisor ante no conformidad crítica).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2011680" cy="50292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B36"/>
                </a:solidFill>
                <a:latin typeface="Barlow"/>
              </a:rPr>
              <a:t>MEDIANO PLAZO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630168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3A1A1"/>
                </a:solidFill>
                <a:latin typeface="IBM Plex Sans"/>
              </a:rPr>
              <a:t>Iconografía ISO 7010 en mapa de planta + ruta de evacuación interactiva.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17720"/>
            <a:ext cx="2011680" cy="50292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2B36"/>
                </a:solidFill>
                <a:latin typeface="Barlow"/>
              </a:rPr>
              <a:t>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590288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3A1A1"/>
                </a:solidFill>
                <a:latin typeface="IBM Plex Sans"/>
              </a:rPr>
              <a:t>Multi-planta: un tablero por instalación, consolidado corporativo y firmas digitales del inspector.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E75"/>
                </a:solidFill>
                <a:latin typeface="IBM Plex Sans"/>
              </a:rPr>
              <a:t>DeployModeIO · construido con DeepChicken · github.com/DeployModeIO/brigada-nfpa10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